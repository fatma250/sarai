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55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35566"/>
          </a:solidFill>
          <a:ln/>
        </p:spPr>
      </p:sp>
      <p:pic>
        <p:nvPicPr>
          <p:cNvPr id="4" name="Image 0" descr="C:/Users/Fatma/OneDrive/Documents/GitHub/SARAI-cleaned/project/frontend/public/images/sarai_logo_new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685800"/>
            <a:ext cx="3246120" cy="2148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Stocktaking of Arab Regional AI Initiatives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937760" y="3520440"/>
            <a:ext cx="2286000" cy="0"/>
          </a:xfrm>
          <a:prstGeom prst="line">
            <a:avLst/>
          </a:prstGeom>
          <a:noFill/>
          <a:ln w="25400">
            <a:solidFill>
              <a:srgbClr val="13556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70332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 de stage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371600" y="42062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Conception, développement et audit de sécurité d'une plateforme web pour l'AICTO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(Arab ICT Organization)</a:t>
            </a:r>
            <a:endParaRPr lang="en-US" sz="1400" dirty="0"/>
          </a:p>
        </p:txBody>
      </p:sp>
      <p:pic>
        <p:nvPicPr>
          <p:cNvPr id="9" name="Image 1" descr="C:/Users/Fatma/OneDrive/Documents/GitHub/SARAI-cleaned/project/frontend/public/images/aicto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806440"/>
            <a:ext cx="777240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562356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Fatma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Encadrante académique :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[à compléter]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Organisme d'accueil :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AICTO — Arab ICT Organization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5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8229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B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1691640"/>
            <a:ext cx="4617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organisme d'accueil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423160"/>
            <a:ext cx="5394960" cy="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32888"/>
            <a:ext cx="8229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B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80160" y="2532888"/>
            <a:ext cx="4617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&amp; objectifs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3264408"/>
            <a:ext cx="5394960" cy="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374136"/>
            <a:ext cx="8229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B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280160" y="3374136"/>
            <a:ext cx="4617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 fonctionnel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4105656"/>
            <a:ext cx="5394960" cy="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215384"/>
            <a:ext cx="8229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B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280160" y="4215384"/>
            <a:ext cx="4617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choix technologiques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4946904"/>
            <a:ext cx="5394960" cy="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5056632"/>
            <a:ext cx="8229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B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280160" y="5056632"/>
            <a:ext cx="4617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5788152"/>
            <a:ext cx="5394960" cy="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691640"/>
            <a:ext cx="8229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B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178040" y="1691640"/>
            <a:ext cx="4617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Réalisations — fonctionnalités clés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0" y="2423160"/>
            <a:ext cx="5394960" cy="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532888"/>
            <a:ext cx="8229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B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178040" y="2532888"/>
            <a:ext cx="4617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Sécurité, audit &amp; qualité du code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0" y="3264408"/>
            <a:ext cx="5394960" cy="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374136"/>
            <a:ext cx="8229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B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178040" y="3374136"/>
            <a:ext cx="4617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&amp; conteneurisation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0" y="4105656"/>
            <a:ext cx="5394960" cy="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215384"/>
            <a:ext cx="8229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B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178040" y="4215384"/>
            <a:ext cx="4617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00800" y="4946904"/>
            <a:ext cx="5394960" cy="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5056632"/>
            <a:ext cx="8229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B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178040" y="5056632"/>
            <a:ext cx="4617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Bilan, compétences &amp; perspectives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0" y="5788152"/>
            <a:ext cx="5394960" cy="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213D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654710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SARAI  ·  AICTO — Arab ICT Organization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0" y="654710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68735" y="6547104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5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AICTO — l'organisme d'accueil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2011680" cy="0"/>
          </a:xfrm>
          <a:prstGeom prst="line">
            <a:avLst/>
          </a:prstGeom>
          <a:noFill/>
          <a:ln w="31750">
            <a:solidFill>
              <a:srgbClr val="1355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112471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AICTO (Arab ICT Organization) : organisation régionale qui promeut la coopération entre pays arabes dans les technologies de l'information et de la communication.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à l'origine du projet :</a:t>
            </a:r>
            <a:endParaRPr lang="en-US" sz="1600" dirty="0"/>
          </a:p>
          <a:p>
            <a:pPr lvl="1" marL="685800" indent="-342900">
              <a:lnSpc>
                <a:spcPts val="22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initiative IA de la région n'est recensée dans un système centralisé — information dispersée entre rapports, sites institutionnels et bases locales non interopérables.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SARAI (Stocktaking of Arab Regional AI Initiatives) : plateforme numérique répondant à ce besoin, destinée à recenser et cartographier les initiatives d'IA dans les 22 pays de la région arabe.</a:t>
            </a:r>
            <a:endParaRPr lang="en-US" sz="1600" dirty="0"/>
          </a:p>
          <a:p>
            <a:pPr lvl="1" marL="685800" indent="-342900">
              <a:lnSpc>
                <a:spcPts val="22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visé : startups, universités, laboratoires de recherche, agences gouvernementales, ONG, entreprises.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213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4710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SARAI  ·  AICTO — Arab ICT Organization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654710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du projet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68735" y="6547104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5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2011680" cy="0"/>
          </a:xfrm>
          <a:prstGeom prst="line">
            <a:avLst/>
          </a:prstGeom>
          <a:noFill/>
          <a:ln w="31750">
            <a:solidFill>
              <a:srgbClr val="1355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112471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Centraliser les données sur les projets IA, les parties prenantes, les secteurs, les technologies IA et les ODD associés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Offrir une cartographie interactive de la répartition géographique des initiatives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Fournir un tableau de bord analytique pour suivre les tendances (pays, secteur, technologie, statut)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la qualité des données via un workflow de modération (soumission puis validation admin)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Rendre la plateforme accessible en français, anglais et arabe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Assister les utilisateurs via un chatbot capable de répondre en langage naturel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213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4710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SARAI  ·  AICTO — Arab ICT Organization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654710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du projet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68735" y="6547104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5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 fonctionnel (synthèse)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2011680" cy="0"/>
          </a:xfrm>
          <a:prstGeom prst="line">
            <a:avLst/>
          </a:prstGeom>
          <a:noFill/>
          <a:ln w="31750">
            <a:solidFill>
              <a:srgbClr val="135566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247120" cy="4800600"/>
        </p:xfrm>
        <a:graphic>
          <a:graphicData uri="http://schemas.openxmlformats.org/drawingml/2006/table">
            <a:tbl>
              <a:tblPr/>
              <a:tblGrid>
                <a:gridCol w="2834640"/>
                <a:gridCol w="8412480"/>
              </a:tblGrid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Fonctionnalités attendues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D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Inscription, vérification email, connexion, mot de passe oublié, rôles (organisation / modérateur / admin)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de projets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Soumission, édition, association pays/secteur/technologies/ODD, workflow, historique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Cartographie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 interactive par pays, indicateurs socio-économiques, statuts des projets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Statistiques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Tableau de bord agrégé (pays, secteur, technologie, statut)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Recherche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Mots-clés/filtres, recherche sémantique, plein texte (Elasticsearch)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Assistant conversationnel multilingue sur les données de la plateforme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Modération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d'attente admin, approbation/rejet individuel ou en masse, notifications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 / EN / AR avec bascule RTL/LTR automatique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213D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4710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SARAI  ·  AICTO — Arab ICT Organization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0" y="654710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du projet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68735" y="6547104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5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choix architectural justifié : monolithe modulaire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2011680" cy="0"/>
          </a:xfrm>
          <a:prstGeom prst="line">
            <a:avLst/>
          </a:prstGeom>
          <a:noFill/>
          <a:ln w="31750">
            <a:solidFill>
              <a:srgbClr val="1355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Plutôt qu'une architecture en microservices, le projet adopte un monolithe modulaire — décision documentée comme un véritable Architecture Decision Record (ADR).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2670048" cy="306324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24688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35566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7512" y="3108960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fortement relationnel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" y="3703320"/>
            <a:ext cx="234086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Jointures fréquentes entre projets, parties prenantes, pays et ODD → un découpage microservices serait coûteux sans bénéfice réel.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74136" y="2286000"/>
            <a:ext cx="2670048" cy="306324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38728" y="24688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35566"/>
          </a:solidFill>
          <a:ln/>
        </p:spPr>
      </p:sp>
      <p:sp>
        <p:nvSpPr>
          <p:cNvPr id="14" name="Text 12"/>
          <p:cNvSpPr/>
          <p:nvPr/>
        </p:nvSpPr>
        <p:spPr>
          <a:xfrm>
            <a:off x="3538728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38728" y="3108960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modérée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38728" y="3703320"/>
            <a:ext cx="234086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charge de la plateforme ne justifie pas un scaling indépendant des composants.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45352" y="2286000"/>
            <a:ext cx="2670048" cy="306324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9944" y="24688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3556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9944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9944" y="3108960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restreinte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9944" y="3703320"/>
            <a:ext cx="234086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Coordonner plusieurs services distants serait contre-productif avec une petite équipe.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16568" y="2286000"/>
            <a:ext cx="2670048" cy="306324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81160" y="24688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35566"/>
          </a:solidFill>
          <a:ln/>
        </p:spPr>
      </p:sp>
      <p:sp>
        <p:nvSpPr>
          <p:cNvPr id="24" name="Text 22"/>
          <p:cNvSpPr/>
          <p:nvPr/>
        </p:nvSpPr>
        <p:spPr>
          <a:xfrm>
            <a:off x="928116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281160" y="3108960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Coutures déjà isolées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81160" y="3703320"/>
            <a:ext cx="234086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(Elasticsearch), embeddings (pgvector) et chatbot (Ollama) sont déjà des modules de services dédiés, extractibles plus tard sans toucher au cœur métier.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213D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654710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SARAI  ·  AICTO — Arab ICT Organization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0" y="654710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choix technologiques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68735" y="6547104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5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technologique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2011680" cy="0"/>
          </a:xfrm>
          <a:prstGeom prst="line">
            <a:avLst/>
          </a:prstGeom>
          <a:noFill/>
          <a:ln w="31750">
            <a:solidFill>
              <a:srgbClr val="1355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0876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08760"/>
            <a:ext cx="5440680" cy="502920"/>
          </a:xfrm>
          <a:prstGeom prst="rect">
            <a:avLst/>
          </a:prstGeom>
          <a:solidFill>
            <a:srgbClr val="12213D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08760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221992"/>
            <a:ext cx="82296" cy="82296"/>
          </a:xfrm>
          <a:prstGeom prst="rect">
            <a:avLst/>
          </a:prstGeom>
          <a:solidFill>
            <a:srgbClr val="13556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488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0.109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108960" y="2148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REST, validation auto, Swagger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770632"/>
            <a:ext cx="82296" cy="82296"/>
          </a:xfrm>
          <a:prstGeom prst="rect">
            <a:avLst/>
          </a:prstGeom>
          <a:solidFill>
            <a:srgbClr val="13556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697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pgvector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108960" y="2697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Relationnel + recherche vectorielle (repli SQLite en dev)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319272"/>
            <a:ext cx="82296" cy="82296"/>
          </a:xfrm>
          <a:prstGeom prst="rect">
            <a:avLst/>
          </a:prstGeom>
          <a:solidFill>
            <a:srgbClr val="13556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246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 / Pydantic 2.5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108960" y="3246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&amp; schémas de validation (DTO)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867912"/>
            <a:ext cx="82296" cy="82296"/>
          </a:xfrm>
          <a:prstGeom prst="rect">
            <a:avLst/>
          </a:prstGeom>
          <a:solidFill>
            <a:srgbClr val="135566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794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passlib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108960" y="3794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Authentification, hachage sécurisé des mots de passe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416552"/>
            <a:ext cx="82296" cy="82296"/>
          </a:xfrm>
          <a:prstGeom prst="rect">
            <a:avLst/>
          </a:prstGeom>
          <a:solidFill>
            <a:srgbClr val="13556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343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(optionnel)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108960" y="4343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plein texte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965192"/>
            <a:ext cx="82296" cy="82296"/>
          </a:xfrm>
          <a:prstGeom prst="rect">
            <a:avLst/>
          </a:prstGeom>
          <a:solidFill>
            <a:srgbClr val="135566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8920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(llama3.2)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108960" y="48920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conversationnel, self-hosted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5513832"/>
            <a:ext cx="82296" cy="82296"/>
          </a:xfrm>
          <a:prstGeom prst="rect">
            <a:avLst/>
          </a:prstGeom>
          <a:solidFill>
            <a:srgbClr val="135566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4406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xhtml2pdf + Jinja2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108960" y="5440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de fiches PDF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45352" y="150876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45352" y="1508760"/>
            <a:ext cx="5440680" cy="502920"/>
          </a:xfrm>
          <a:prstGeom prst="rect">
            <a:avLst/>
          </a:prstGeom>
          <a:solidFill>
            <a:srgbClr val="135566"/>
          </a:solidFill>
          <a:ln/>
        </p:spPr>
      </p:sp>
      <p:sp>
        <p:nvSpPr>
          <p:cNvPr id="32" name="Text 30"/>
          <p:cNvSpPr/>
          <p:nvPr/>
        </p:nvSpPr>
        <p:spPr>
          <a:xfrm>
            <a:off x="6245352" y="1508760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73952" y="2221992"/>
            <a:ext cx="82296" cy="82296"/>
          </a:xfrm>
          <a:prstGeom prst="rect">
            <a:avLst/>
          </a:prstGeom>
          <a:solidFill>
            <a:srgbClr val="12213D"/>
          </a:solidFill>
          <a:ln/>
        </p:spPr>
      </p:sp>
      <p:sp>
        <p:nvSpPr>
          <p:cNvPr id="34" name="Text 32"/>
          <p:cNvSpPr/>
          <p:nvPr/>
        </p:nvSpPr>
        <p:spPr>
          <a:xfrm>
            <a:off x="6656832" y="21488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5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851392" y="2148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en composants, build rapide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73952" y="2770632"/>
            <a:ext cx="82296" cy="82296"/>
          </a:xfrm>
          <a:prstGeom prst="rect">
            <a:avLst/>
          </a:prstGeom>
          <a:solidFill>
            <a:srgbClr val="12213D"/>
          </a:solidFill>
          <a:ln/>
        </p:spPr>
      </p:sp>
      <p:sp>
        <p:nvSpPr>
          <p:cNvPr id="37" name="Text 35"/>
          <p:cNvSpPr/>
          <p:nvPr/>
        </p:nvSpPr>
        <p:spPr>
          <a:xfrm>
            <a:off x="6656832" y="2697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react-router-dom v6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851392" y="2697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SPA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73952" y="3319272"/>
            <a:ext cx="82296" cy="82296"/>
          </a:xfrm>
          <a:prstGeom prst="rect">
            <a:avLst/>
          </a:prstGeom>
          <a:solidFill>
            <a:srgbClr val="12213D"/>
          </a:solidFill>
          <a:ln/>
        </p:spPr>
      </p:sp>
      <p:sp>
        <p:nvSpPr>
          <p:cNvPr id="40" name="Text 38"/>
          <p:cNvSpPr/>
          <p:nvPr/>
        </p:nvSpPr>
        <p:spPr>
          <a:xfrm>
            <a:off x="6656832" y="3246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851392" y="3246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 à l'API backend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73952" y="3867912"/>
            <a:ext cx="82296" cy="82296"/>
          </a:xfrm>
          <a:prstGeom prst="rect">
            <a:avLst/>
          </a:prstGeom>
          <a:solidFill>
            <a:srgbClr val="12213D"/>
          </a:solidFill>
          <a:ln/>
        </p:spPr>
      </p:sp>
      <p:sp>
        <p:nvSpPr>
          <p:cNvPr id="43" name="Text 41"/>
          <p:cNvSpPr/>
          <p:nvPr/>
        </p:nvSpPr>
        <p:spPr>
          <a:xfrm>
            <a:off x="6656832" y="3794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i18next / react-i18next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851392" y="3794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/ EN / AR, détection de langue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73952" y="4416552"/>
            <a:ext cx="82296" cy="82296"/>
          </a:xfrm>
          <a:prstGeom prst="rect">
            <a:avLst/>
          </a:prstGeom>
          <a:solidFill>
            <a:srgbClr val="12213D"/>
          </a:solidFill>
          <a:ln/>
        </p:spPr>
      </p:sp>
      <p:sp>
        <p:nvSpPr>
          <p:cNvPr id="46" name="Text 44"/>
          <p:cNvSpPr/>
          <p:nvPr/>
        </p:nvSpPr>
        <p:spPr>
          <a:xfrm>
            <a:off x="6656832" y="4343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851392" y="4343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du dashboard analytique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73952" y="4965192"/>
            <a:ext cx="82296" cy="82296"/>
          </a:xfrm>
          <a:prstGeom prst="rect">
            <a:avLst/>
          </a:prstGeom>
          <a:solidFill>
            <a:srgbClr val="12213D"/>
          </a:solidFill>
          <a:ln/>
        </p:spPr>
      </p:sp>
      <p:sp>
        <p:nvSpPr>
          <p:cNvPr id="49" name="Text 47"/>
          <p:cNvSpPr/>
          <p:nvPr/>
        </p:nvSpPr>
        <p:spPr>
          <a:xfrm>
            <a:off x="6656832" y="48920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react-toastify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8851392" y="4892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toast (support RTL)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73952" y="5513832"/>
            <a:ext cx="82296" cy="82296"/>
          </a:xfrm>
          <a:prstGeom prst="rect">
            <a:avLst/>
          </a:prstGeom>
          <a:solidFill>
            <a:srgbClr val="12213D"/>
          </a:solidFill>
          <a:ln/>
        </p:spPr>
      </p:sp>
      <p:sp>
        <p:nvSpPr>
          <p:cNvPr id="52" name="Text 50"/>
          <p:cNvSpPr/>
          <p:nvPr/>
        </p:nvSpPr>
        <p:spPr>
          <a:xfrm>
            <a:off x="6656832" y="54406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+ html2canvas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8851392" y="54406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côté navigateur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213D"/>
          </a:solidFill>
          <a:ln/>
        </p:spPr>
      </p:sp>
      <p:sp>
        <p:nvSpPr>
          <p:cNvPr id="55" name="Text 53"/>
          <p:cNvSpPr/>
          <p:nvPr/>
        </p:nvSpPr>
        <p:spPr>
          <a:xfrm>
            <a:off x="365760" y="654710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SARAI  ·  AICTO — Arab ICT Organization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486400" y="654710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choix technologiques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368735" y="6547104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5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 — 18 tables normalisées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2011680" cy="0"/>
          </a:xfrm>
          <a:prstGeom prst="line">
            <a:avLst/>
          </a:prstGeom>
          <a:noFill/>
          <a:ln w="31750">
            <a:solidFill>
              <a:srgbClr val="1355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112471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Refonte complète vers un schéma normalisé (3ème forme normale), documentée par un schéma détaillé et un diagramme entité-association.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 principales :</a:t>
            </a:r>
            <a:endParaRPr lang="en-US" sz="1600" dirty="0"/>
          </a:p>
          <a:p>
            <a:pPr lvl="1" marL="685800" indent="-342900">
              <a:lnSpc>
                <a:spcPts val="22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— comptes, rôle (organisation / modérateur / admin), vérification email, approbation admin</a:t>
            </a:r>
            <a:endParaRPr lang="en-US" sz="1600" dirty="0"/>
          </a:p>
          <a:p>
            <a:pPr lvl="1" marL="685800" indent="-342900">
              <a:lnSpc>
                <a:spcPts val="22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— entité centrale : statut de workflow, embedding vectoriel pour la recherche sémantique</a:t>
            </a:r>
            <a:endParaRPr lang="en-US" sz="1600" dirty="0"/>
          </a:p>
          <a:p>
            <a:pPr lvl="1" marL="685800" indent="-342900">
              <a:lnSpc>
                <a:spcPts val="22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Stakeholder, Country (22 pays), Sector, SDG (17 ODD), AITechnology — taxonomies de référence</a:t>
            </a:r>
            <a:endParaRPr lang="en-US" sz="1600" dirty="0"/>
          </a:p>
          <a:p>
            <a:pPr lvl="1" marL="685800" indent="-342900">
              <a:lnSpc>
                <a:spcPts val="22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Comment, Approval, Notification — traçabilité et audit du workflow de modération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tables de liaison many-to-many (projets ↔ ODD, ↔ technologies, ↔ parties prenantes)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213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4710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SARAI  ·  AICTO — Arab ICT Organization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654710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choix technologiques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68735" y="6547104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5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déploiement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2011680" cy="0"/>
          </a:xfrm>
          <a:prstGeom prst="line">
            <a:avLst/>
          </a:prstGeom>
          <a:noFill/>
          <a:ln w="31750">
            <a:solidFill>
              <a:srgbClr val="1355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774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221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420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 par Nginx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29000" y="23774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135566"/>
          </a:solidFill>
          <a:ln w="12700">
            <a:solidFill>
              <a:srgbClr val="1221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5420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9718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Uvicorn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 non-root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23774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2213D"/>
          </a:solidFill>
          <a:ln w="12700">
            <a:solidFill>
              <a:srgbClr val="1221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54203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29718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pgvector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(relationnel + vectoriel)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08960" y="3063240"/>
            <a:ext cx="32004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897880" y="3063240"/>
            <a:ext cx="32004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4008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optionnels — activables par profils Docker Compose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29000" y="425196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135566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429000" y="42519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(profil « search »)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plein texte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425196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135566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217920" y="425196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(llama3.2)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(profil « ai »)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local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557784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E4EEF0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57784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complète via Docker Compose : démarrage minimal en dev (docker compose up), fonctionnalités avancées à la demande (--profile search --profile ai).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213D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654710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SARAI  ·  AICTO — Arab ICT Organization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654710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choix technologiques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68735" y="6547104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5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&amp; gestion des rôles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2011680" cy="0"/>
          </a:xfrm>
          <a:prstGeom prst="line">
            <a:avLst/>
          </a:prstGeom>
          <a:noFill/>
          <a:ln w="31750">
            <a:solidFill>
              <a:srgbClr val="1355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0200"/>
            <a:ext cx="6035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par JWT (HS256), jeton valable 24h, contenant identité et rôle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rôles : organisation, modérateur, administrateur — contrôlés en base ET par les dépendances FastAPI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garde-fous à la connexion : email vérifié, compte approuvé par un admin, compte actif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Jeton stocké côté client, réinjecté en en-tête Authorization: Bearer &lt;token&gt;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766560" y="1600200"/>
            <a:ext cx="49377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9050">
            <a:solidFill>
              <a:srgbClr val="13556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766560" y="31546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4A3B8"/>
                </a:solidFill>
              </a:rPr>
              <a:t>🖼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040880" y="3794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: page de connexion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0" y="413308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inscription — vue avant/après connexion, message de garde-fou (ex. compte en attente)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213D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654710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SARAI  ·  AICTO — Arab ICT Organization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0" y="654710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8735" y="6547104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5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 de projets &amp; workflow de modération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2011680" cy="0"/>
          </a:xfrm>
          <a:prstGeom prst="line">
            <a:avLst/>
          </a:prstGeom>
          <a:noFill/>
          <a:ln w="31750">
            <a:solidFill>
              <a:srgbClr val="1355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0200"/>
            <a:ext cx="6035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ProjectStocktaking : cœur fonctionnel — soumission liée à un pays, secteurs, technologies IA, ODD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 : en attente → approuvé / rejeté (avec motif) / révision demandée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changement de statut est tracé (table d'audit) et déclenche une notification (base + email)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admin : actions groupées (approbation / rejet en masse)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766560" y="1600200"/>
            <a:ext cx="49377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9050">
            <a:solidFill>
              <a:srgbClr val="13556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766560" y="31546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4A3B8"/>
                </a:solidFill>
              </a:rPr>
              <a:t>🖼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040880" y="3794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: formulaire de soumission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0" y="413308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de projet ET file de modération admin (vue avant/après approbation)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213D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654710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SARAI  ·  AICTO — Arab ICT Organization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0" y="654710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8735" y="6547104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5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 interactive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2011680" cy="0"/>
          </a:xfrm>
          <a:prstGeom prst="line">
            <a:avLst/>
          </a:prstGeom>
          <a:noFill/>
          <a:ln w="31750">
            <a:solidFill>
              <a:srgbClr val="1355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0200"/>
            <a:ext cx="6035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KnowledgeMap : carte des pays arabes avec indicateurs socio-économiques (population, PIB, IDH, devise)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couleur reflétant les statuts des projets recensés par pays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 SVG entièrement personnalisé avec projection géographique codée manuellement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technique : contrôle visuel fin sur l'affichage des marqueurs par pays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766560" y="1600200"/>
            <a:ext cx="49377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9050">
            <a:solidFill>
              <a:srgbClr val="13556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766560" y="31546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4A3B8"/>
                </a:solidFill>
              </a:rPr>
              <a:t>🖼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040880" y="3794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: carte interactive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0" y="413308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de la carte avec un pays sélectionné affichant ses indicateurs et projets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213D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654710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SARAI  ·  AICTO — Arab ICT Organization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0" y="654710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8735" y="6547104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5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analytique &amp; recherche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2011680" cy="0"/>
          </a:xfrm>
          <a:prstGeom prst="line">
            <a:avLst/>
          </a:prstGeom>
          <a:noFill/>
          <a:ln w="31750">
            <a:solidFill>
              <a:srgbClr val="1355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0200"/>
            <a:ext cx="6035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Analytics : agrégations calculées côté serveur, restituées via recharts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par pays, secteur, technologie, statut de projet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hybride : mots-clés/filtres + recherche sémantique (sentence-transformers + pgvector) + plein texte (Elasticsearch, optionnel)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766560" y="1600200"/>
            <a:ext cx="49377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9050">
            <a:solidFill>
              <a:srgbClr val="13556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766560" y="31546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4A3B8"/>
                </a:solidFill>
              </a:rPr>
              <a:t>🖼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040880" y="3794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: dashboard statistique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0" y="413308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du tableau de bord (répartition par pays / secteur / technologie)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213D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654710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SARAI  ·  AICTO — Arab ICT Organization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0" y="654710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8735" y="6547104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5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conversationnel &amp; internationalisation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2011680" cy="0"/>
          </a:xfrm>
          <a:prstGeom prst="line">
            <a:avLst/>
          </a:prstGeom>
          <a:noFill/>
          <a:ln w="31750">
            <a:solidFill>
              <a:srgbClr val="1355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0200"/>
            <a:ext cx="6035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alimenté par Ollama (llama3.2, local) ou API compatible OpenAI en repli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d'alias multilingues (ex. « projets IA santé Tunisie »)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langues : FR / EN / AR via i18next, bascule RTL/LTR automatique propagée aux composants tiers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sombre/clair persistant, initialisé selon la préférence système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766560" y="1600200"/>
            <a:ext cx="49377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9050">
            <a:solidFill>
              <a:srgbClr val="13556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766560" y="31546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4A3B8"/>
                </a:solidFill>
              </a:rPr>
              <a:t>🖼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040880" y="3794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: chatbot + vue RTL arabe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0" y="413308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 de chat ET une page en arabe pour illustrer le RTL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213D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654710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SARAI  ·  AICTO — Arab ICT Organization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0" y="654710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8735" y="6547104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5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QUALITÉ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 sécurité — 2 failles critiques corrigées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2011680" cy="0"/>
          </a:xfrm>
          <a:prstGeom prst="line">
            <a:avLst/>
          </a:prstGeom>
          <a:noFill/>
          <a:ln w="31750">
            <a:solidFill>
              <a:srgbClr val="1355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part importante du stage a consisté à auditer, sécuriser et nettoyer le code existant (analyse statique, arbre syntaxique, revue des imports).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11247120" cy="1417320"/>
          </a:xfrm>
          <a:prstGeom prst="roundRect">
            <a:avLst>
              <a:gd name="adj" fmla="val 3871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011680"/>
            <a:ext cx="91440" cy="1417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214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FAILLE CRITIQUE N°1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39572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Élévation de privilèges à l'inscription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72491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formulaire public acceptait un champ « role » transmis par le client → tout visiteur pouvait créer un compte admin. Correction : rôle forcé côté serveur à « organisation » ; compte admin créé uniquement via script dédié réservé à un opérateur autorisé.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657600"/>
            <a:ext cx="11247120" cy="1417320"/>
          </a:xfrm>
          <a:prstGeom prst="roundRect">
            <a:avLst>
              <a:gd name="adj" fmla="val 3871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657600"/>
            <a:ext cx="91440" cy="1417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767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FAILLE CRITIQUE N°2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04164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vérification JWT sur les routes d'administration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37083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Certains endpoints admin ne vérifiaient pas systématiquement un jeton JWT valide. Correction : module centralisé dependencies.py appliqué à tout le routeur admin — aucune route sensible accessible sans authentification et rôle requis.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5349240"/>
            <a:ext cx="11247120" cy="822960"/>
          </a:xfrm>
          <a:prstGeom prst="roundRect">
            <a:avLst>
              <a:gd name="adj" fmla="val 6667"/>
            </a:avLst>
          </a:prstGeom>
          <a:solidFill>
            <a:srgbClr val="E4EEF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349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actions : suppression de code mort (~470 Ko de données commises par erreur), archivage de ~80 scripts obsolètes, correction d'URL API codée en dur, réparation de dépendances mal positionnées, suppression de 54 imports Python inutilisés.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213D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654710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SARAI  ·  AICTO — Arab ICT Organization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0" y="654710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Sécurité, audit &amp; qualité du code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68735" y="6547104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5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avec Docker &amp; Docker Compose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2011680" cy="0"/>
          </a:xfrm>
          <a:prstGeom prst="line">
            <a:avLst/>
          </a:prstGeom>
          <a:noFill/>
          <a:ln w="31750">
            <a:solidFill>
              <a:srgbClr val="1355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112471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faciliter le déploiement et la reproductibilité de l'environnement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— image pgvector/pgvector:pg16 (PostgreSQL + recherche vectorielle)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image Python 3.12 slim, exécutée sous utilisateur non privilégié (appuser) pour limiter la surface d'attaque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build multi-stage : compilation Vite (Node 22) puis service statique via Nginx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de l'API injectée au build via VITE_API_URL → même image déployable sur plusieurs environnements sans recompilation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213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4710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SARAI  ·  AICTO — Arab ICT Organization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654710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&amp; conteneurisation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68735" y="6547104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5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 et solutions apportées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2011680" cy="0"/>
          </a:xfrm>
          <a:prstGeom prst="line">
            <a:avLst/>
          </a:prstGeom>
          <a:noFill/>
          <a:ln w="31750">
            <a:solidFill>
              <a:srgbClr val="135566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247120" cy="4800600"/>
        </p:xfrm>
        <a:graphic>
          <a:graphicData uri="http://schemas.openxmlformats.org/drawingml/2006/table">
            <a:tbl>
              <a:tblPr/>
              <a:tblGrid>
                <a:gridCol w="5029200"/>
                <a:gridCol w="621792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Difficulté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apportée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BDD historiquement dénormalisée (données de test + réelles mêlées)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Refonte vers un schéma normalisé de 18 tables, documentée (schéma + ERD)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Faille d'élévation de privilèges dans l'inscription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ciblé, rôle forcé côté serveur, vérification JWT systématique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 de l'API backend codée en dur (déploiement bloqué)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Externalisation via VITE_API_URL injectée au build du frontend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Accumulation de scripts ponctuels et code mort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Campagne de nettoyage et archivage des éléments non référencés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de l'arabe (RTL) en plus du FR/EN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dynamique de l'attribut dir (RTL/LTR) propagée aux composants tiers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213D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4710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SARAI  ·  AICTO — Arab ICT Organization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0" y="654710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perspectives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68735" y="6547104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5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acquises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2011680" cy="0"/>
          </a:xfrm>
          <a:prstGeom prst="line">
            <a:avLst/>
          </a:prstGeom>
          <a:noFill/>
          <a:ln w="31750">
            <a:solidFill>
              <a:srgbClr val="1355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00200"/>
            <a:ext cx="54406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1842516"/>
            <a:ext cx="219456" cy="219456"/>
          </a:xfrm>
          <a:prstGeom prst="oval">
            <a:avLst/>
          </a:prstGeom>
          <a:solidFill>
            <a:srgbClr val="135566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8425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600200"/>
            <a:ext cx="48006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d'API REST avec FastAPI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441448"/>
            <a:ext cx="54406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2683764"/>
            <a:ext cx="219456" cy="219456"/>
          </a:xfrm>
          <a:prstGeom prst="oval">
            <a:avLst/>
          </a:prstGeom>
          <a:solidFill>
            <a:srgbClr val="135566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268376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441448"/>
            <a:ext cx="48006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de données relationnelles (SQLAlchemy)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282696"/>
            <a:ext cx="54406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" y="3525012"/>
            <a:ext cx="219456" cy="219456"/>
          </a:xfrm>
          <a:prstGeom prst="oval">
            <a:avLst/>
          </a:prstGeom>
          <a:solidFill>
            <a:srgbClr val="135566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352501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282696"/>
            <a:ext cx="48006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JWT &amp; contrôle d'accès par rôles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123944"/>
            <a:ext cx="54406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" y="4366260"/>
            <a:ext cx="219456" cy="219456"/>
          </a:xfrm>
          <a:prstGeom prst="oval">
            <a:avLst/>
          </a:prstGeom>
          <a:solidFill>
            <a:srgbClr val="135566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" y="43662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4123944"/>
            <a:ext cx="48006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frontend avec React &amp; Vite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4965192"/>
            <a:ext cx="54406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7512" y="5207508"/>
            <a:ext cx="219456" cy="219456"/>
          </a:xfrm>
          <a:prstGeom prst="oval">
            <a:avLst/>
          </a:prstGeom>
          <a:solidFill>
            <a:srgbClr val="135566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" y="520750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4965192"/>
            <a:ext cx="48006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Internationalisation et accessibilité (i18n, RTL)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1600200"/>
            <a:ext cx="54406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73952" y="1842516"/>
            <a:ext cx="219456" cy="219456"/>
          </a:xfrm>
          <a:prstGeom prst="oval">
            <a:avLst/>
          </a:prstGeom>
          <a:solidFill>
            <a:srgbClr val="135566"/>
          </a:solidFill>
          <a:ln/>
        </p:spPr>
      </p:sp>
      <p:sp>
        <p:nvSpPr>
          <p:cNvPr id="28" name="Text 26"/>
          <p:cNvSpPr/>
          <p:nvPr/>
        </p:nvSpPr>
        <p:spPr>
          <a:xfrm>
            <a:off x="6473952" y="18425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1600200"/>
            <a:ext cx="48006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sémantique et embeddings vectoriels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2441448"/>
            <a:ext cx="54406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73952" y="2683764"/>
            <a:ext cx="219456" cy="219456"/>
          </a:xfrm>
          <a:prstGeom prst="oval">
            <a:avLst/>
          </a:prstGeom>
          <a:solidFill>
            <a:srgbClr val="135566"/>
          </a:solidFill>
          <a:ln/>
        </p:spPr>
      </p:sp>
      <p:sp>
        <p:nvSpPr>
          <p:cNvPr id="32" name="Text 30"/>
          <p:cNvSpPr/>
          <p:nvPr/>
        </p:nvSpPr>
        <p:spPr>
          <a:xfrm>
            <a:off x="6473952" y="268376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12280" y="2441448"/>
            <a:ext cx="48006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de LLM via Ollama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9360" y="3282696"/>
            <a:ext cx="54406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73952" y="3525012"/>
            <a:ext cx="219456" cy="219456"/>
          </a:xfrm>
          <a:prstGeom prst="oval">
            <a:avLst/>
          </a:prstGeom>
          <a:solidFill>
            <a:srgbClr val="135566"/>
          </a:solidFill>
          <a:ln/>
        </p:spPr>
      </p:sp>
      <p:sp>
        <p:nvSpPr>
          <p:cNvPr id="36" name="Text 34"/>
          <p:cNvSpPr/>
          <p:nvPr/>
        </p:nvSpPr>
        <p:spPr>
          <a:xfrm>
            <a:off x="6473952" y="352501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12280" y="3282696"/>
            <a:ext cx="48006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avec Docker / Docker Compose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09360" y="4123944"/>
            <a:ext cx="54406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73952" y="4366260"/>
            <a:ext cx="219456" cy="219456"/>
          </a:xfrm>
          <a:prstGeom prst="oval">
            <a:avLst/>
          </a:prstGeom>
          <a:solidFill>
            <a:srgbClr val="135566"/>
          </a:solidFill>
          <a:ln/>
        </p:spPr>
      </p:sp>
      <p:sp>
        <p:nvSpPr>
          <p:cNvPr id="40" name="Text 38"/>
          <p:cNvSpPr/>
          <p:nvPr/>
        </p:nvSpPr>
        <p:spPr>
          <a:xfrm>
            <a:off x="6473952" y="43662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12280" y="4123944"/>
            <a:ext cx="48006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 sécurité et analyse statique de code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4965192"/>
            <a:ext cx="54406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73952" y="5207508"/>
            <a:ext cx="219456" cy="219456"/>
          </a:xfrm>
          <a:prstGeom prst="oval">
            <a:avLst/>
          </a:prstGeom>
          <a:solidFill>
            <a:srgbClr val="135566"/>
          </a:solidFill>
          <a:ln/>
        </p:spPr>
      </p:sp>
      <p:sp>
        <p:nvSpPr>
          <p:cNvPr id="44" name="Text 42"/>
          <p:cNvSpPr/>
          <p:nvPr/>
        </p:nvSpPr>
        <p:spPr>
          <a:xfrm>
            <a:off x="6473952" y="520750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12280" y="4965192"/>
            <a:ext cx="48006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d'architecture (ADR)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213D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654710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SARAI  ·  AICTO — Arab ICT Organization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486400" y="654710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perspectives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368735" y="6547104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55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3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 d'évolution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2011680" cy="0"/>
          </a:xfrm>
          <a:prstGeom prst="line">
            <a:avLst/>
          </a:prstGeom>
          <a:noFill/>
          <a:ln w="31750">
            <a:solidFill>
              <a:srgbClr val="1355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stage a permis de contribuer à une plateforme complète de recensement des initiatives IA dans la région arabe — backend robuste, interface multilingue riche, recherche sémantique, chatbot — tout en menant un audit de sécurité qui a significativement amélioré la fiabilité du projet avant déploiement.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d'évolution identifiées 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112471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vers un outil de migrations de schéma dédié (Alembic)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de tests automatisés (pytest, TestClient) + intégration continue (CI)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 de refresh token pour renforcer la gestion des sessions JWT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Restriction de la configuration CORS par environnement de déploiement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progressive des services de recherche/IA en composants indépendants si la charge ou l'équipe croît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213D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654710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SARAI  ·  AICTO — Arab ICT Organization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0" y="654710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perspectives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547104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55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35566"/>
          </a:solidFill>
          <a:ln/>
        </p:spPr>
      </p:sp>
      <p:pic>
        <p:nvPicPr>
          <p:cNvPr id="4" name="Image 0" descr="C:/Users/Fatma/OneDrive/Documents/GitHub/SARAI-cleaned/project/frontend/public/images/sarai_logo_new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188720"/>
            <a:ext cx="233172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14400" y="37033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pic>
        <p:nvPicPr>
          <p:cNvPr id="7" name="Image 1" descr="C:/Users/Fatma/OneDrive/Documents/GitHub/SARAI-cleaned/project/frontend/public/images/aicto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856" y="5212080"/>
            <a:ext cx="777240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SARAI - Presentation de stage</dc:title>
  <dc:subject>PptxGenJS Presentation</dc:subject>
  <dc:creator>Fatma</dc:creator>
  <cp:lastModifiedBy>Fatma</cp:lastModifiedBy>
  <cp:revision>1</cp:revision>
  <dcterms:created xsi:type="dcterms:W3CDTF">2026-07-08T16:59:22Z</dcterms:created>
  <dcterms:modified xsi:type="dcterms:W3CDTF">2026-07-08T16:59:22Z</dcterms:modified>
</cp:coreProperties>
</file>